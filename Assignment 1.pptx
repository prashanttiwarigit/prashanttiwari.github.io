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2/5/2026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1681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2/5/2026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66319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2/5/2026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327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2/5/2026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03852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2/5/2026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01232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2/5/2026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83116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2/5/2026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4033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2/5/2026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211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2/5/2026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43061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2/5/2026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2517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2/5/2026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983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2/5/2026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15234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n abstract burst of blue and pink">
            <a:extLst>
              <a:ext uri="{FF2B5EF4-FFF2-40B4-BE49-F238E27FC236}">
                <a16:creationId xmlns:a16="http://schemas.microsoft.com/office/drawing/2014/main" id="{052698DE-7BDC-3580-1C20-73E97993262D}"/>
              </a:ext>
            </a:extLst>
          </p:cNvPr>
          <p:cNvPicPr>
            <a:picLocks noChangeAspect="1"/>
          </p:cNvPicPr>
          <p:nvPr/>
        </p:nvPicPr>
        <p:blipFill>
          <a:blip r:embed="rId2"/>
          <a:srcRect t="9091" r="9091"/>
          <a:stretch>
            <a:fillRect/>
          </a:stretch>
        </p:blipFill>
        <p:spPr>
          <a:xfrm>
            <a:off x="1" y="10"/>
            <a:ext cx="12192000" cy="6857990"/>
          </a:xfrm>
          <a:prstGeom prst="rect">
            <a:avLst/>
          </a:prstGeom>
        </p:spPr>
      </p:pic>
      <p:sp useBgFill="1">
        <p:nvSpPr>
          <p:cNvPr id="16" name="Rectangle 15">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1DEA8-B3F9-83BF-1D9B-DC07C9665D01}"/>
              </a:ext>
            </a:extLst>
          </p:cNvPr>
          <p:cNvSpPr>
            <a:spLocks noGrp="1"/>
          </p:cNvSpPr>
          <p:nvPr>
            <p:ph type="ctrTitle"/>
          </p:nvPr>
        </p:nvSpPr>
        <p:spPr>
          <a:xfrm>
            <a:off x="898737" y="1562101"/>
            <a:ext cx="4359744" cy="2738530"/>
          </a:xfrm>
        </p:spPr>
        <p:txBody>
          <a:bodyPr anchor="t">
            <a:normAutofit/>
          </a:bodyPr>
          <a:lstStyle/>
          <a:p>
            <a:r>
              <a:rPr lang="en-US" dirty="0"/>
              <a:t>Assignment 1		</a:t>
            </a:r>
          </a:p>
        </p:txBody>
      </p:sp>
      <p:sp>
        <p:nvSpPr>
          <p:cNvPr id="3" name="Subtitle 2">
            <a:extLst>
              <a:ext uri="{FF2B5EF4-FFF2-40B4-BE49-F238E27FC236}">
                <a16:creationId xmlns:a16="http://schemas.microsoft.com/office/drawing/2014/main" id="{09CCA625-E6F5-E2F4-37C9-78C7B4CF76F0}"/>
              </a:ext>
            </a:extLst>
          </p:cNvPr>
          <p:cNvSpPr>
            <a:spLocks noGrp="1"/>
          </p:cNvSpPr>
          <p:nvPr>
            <p:ph type="subTitle" idx="1"/>
          </p:nvPr>
        </p:nvSpPr>
        <p:spPr>
          <a:xfrm>
            <a:off x="900273" y="4300631"/>
            <a:ext cx="4358208" cy="933760"/>
          </a:xfrm>
        </p:spPr>
        <p:txBody>
          <a:bodyPr>
            <a:normAutofit/>
          </a:bodyPr>
          <a:lstStyle/>
          <a:p>
            <a:r>
              <a:rPr lang="en-US" dirty="0"/>
              <a:t>Prashant Tiwari</a:t>
            </a:r>
          </a:p>
          <a:p>
            <a:r>
              <a:rPr lang="en-US" dirty="0"/>
              <a:t>EPPS 6354</a:t>
            </a:r>
          </a:p>
          <a:p>
            <a:endParaRPr lang="en-US" dirty="0"/>
          </a:p>
        </p:txBody>
      </p:sp>
      <p:cxnSp>
        <p:nvCxnSpPr>
          <p:cNvPr id="13" name="Straight Connector 12">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2947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E798-6D2F-1920-A4C0-55455C3FFA86}"/>
              </a:ext>
            </a:extLst>
          </p:cNvPr>
          <p:cNvSpPr>
            <a:spLocks noGrp="1"/>
          </p:cNvSpPr>
          <p:nvPr>
            <p:ph type="title"/>
          </p:nvPr>
        </p:nvSpPr>
        <p:spPr/>
        <p:txBody>
          <a:bodyPr>
            <a:normAutofit/>
          </a:bodyPr>
          <a:lstStyle/>
          <a:p>
            <a:r>
              <a:rPr lang="en-US" dirty="0"/>
              <a:t>1. </a:t>
            </a:r>
            <a:r>
              <a:rPr lang="en-US" sz="1800" dirty="0"/>
              <a:t>Name and describe three applications you have used that employed a database system to store </a:t>
            </a:r>
            <a:br>
              <a:rPr lang="en-US" sz="1800" dirty="0"/>
            </a:br>
            <a:r>
              <a:rPr lang="en-US" sz="1800" dirty="0"/>
              <a:t>and access persistent data. (e.g. airlines, online trade, banking, university system)</a:t>
            </a:r>
          </a:p>
        </p:txBody>
      </p:sp>
      <p:sp>
        <p:nvSpPr>
          <p:cNvPr id="3" name="Content Placeholder 2">
            <a:extLst>
              <a:ext uri="{FF2B5EF4-FFF2-40B4-BE49-F238E27FC236}">
                <a16:creationId xmlns:a16="http://schemas.microsoft.com/office/drawing/2014/main" id="{7EDD54C9-CF80-2C8B-5FBE-AF7DDC3C60D0}"/>
              </a:ext>
            </a:extLst>
          </p:cNvPr>
          <p:cNvSpPr>
            <a:spLocks noGrp="1"/>
          </p:cNvSpPr>
          <p:nvPr>
            <p:ph idx="1"/>
          </p:nvPr>
        </p:nvSpPr>
        <p:spPr>
          <a:xfrm>
            <a:off x="640080" y="2633472"/>
            <a:ext cx="10890928" cy="4224528"/>
          </a:xfrm>
        </p:spPr>
        <p:txBody>
          <a:bodyPr>
            <a:normAutofit/>
          </a:bodyPr>
          <a:lstStyle/>
          <a:p>
            <a:r>
              <a:rPr lang="en-US" sz="1600" dirty="0"/>
              <a:t>Steam – online platform that allows users to play games, interact through their digital market for in game purchases, and publish games (for game developers). Data about these interactions and users are stored as records on Valve’s DBMS (which seems to be a combination of PostgreSQL, in house proprietary DBMSs, </a:t>
            </a:r>
            <a:r>
              <a:rPr lang="en-US" sz="1600" dirty="0" err="1"/>
              <a:t>etc</a:t>
            </a:r>
            <a:r>
              <a:rPr lang="en-US" sz="1600" dirty="0"/>
              <a:t>), as well as partnering with third party CDN providers for storage capacity. Users can have various attributes that could classify them as developers, admins, employee, </a:t>
            </a:r>
            <a:r>
              <a:rPr lang="en-US" sz="1600" dirty="0" err="1"/>
              <a:t>etc</a:t>
            </a:r>
            <a:r>
              <a:rPr lang="en-US" sz="1600" dirty="0"/>
              <a:t> which have different levels of functionality. Some of the persistent data could include metadata about games that are available or have been available via the marketplace, user records, etc.</a:t>
            </a:r>
          </a:p>
        </p:txBody>
      </p:sp>
      <p:pic>
        <p:nvPicPr>
          <p:cNvPr id="7" name="Picture 6">
            <a:extLst>
              <a:ext uri="{FF2B5EF4-FFF2-40B4-BE49-F238E27FC236}">
                <a16:creationId xmlns:a16="http://schemas.microsoft.com/office/drawing/2014/main" id="{C9D7CABA-F4C0-B638-0B14-96CBBC9ACF24}"/>
              </a:ext>
            </a:extLst>
          </p:cNvPr>
          <p:cNvPicPr>
            <a:picLocks noChangeAspect="1"/>
          </p:cNvPicPr>
          <p:nvPr/>
        </p:nvPicPr>
        <p:blipFill>
          <a:blip r:embed="rId2"/>
          <a:stretch>
            <a:fillRect/>
          </a:stretch>
        </p:blipFill>
        <p:spPr>
          <a:xfrm>
            <a:off x="3247093" y="4525711"/>
            <a:ext cx="3928185" cy="2127767"/>
          </a:xfrm>
          <a:prstGeom prst="rect">
            <a:avLst/>
          </a:prstGeom>
        </p:spPr>
      </p:pic>
    </p:spTree>
    <p:extLst>
      <p:ext uri="{BB962C8B-B14F-4D97-AF65-F5344CB8AC3E}">
        <p14:creationId xmlns:p14="http://schemas.microsoft.com/office/powerpoint/2010/main" val="1697048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6A11C-3B8E-7EEC-3E9F-7E4CDCD78B40}"/>
              </a:ext>
            </a:extLst>
          </p:cNvPr>
          <p:cNvSpPr>
            <a:spLocks noGrp="1"/>
          </p:cNvSpPr>
          <p:nvPr>
            <p:ph idx="1"/>
          </p:nvPr>
        </p:nvSpPr>
        <p:spPr>
          <a:xfrm>
            <a:off x="640080" y="1196502"/>
            <a:ext cx="10890928" cy="5003130"/>
          </a:xfrm>
        </p:spPr>
        <p:txBody>
          <a:bodyPr>
            <a:normAutofit fontScale="92500" lnSpcReduction="20000"/>
          </a:bodyPr>
          <a:lstStyle/>
          <a:p>
            <a:r>
              <a:rPr lang="en-US" dirty="0"/>
              <a:t>eLearning</a:t>
            </a:r>
          </a:p>
          <a:p>
            <a:endParaRPr lang="en-US" dirty="0"/>
          </a:p>
          <a:p>
            <a:endParaRPr lang="en-US" dirty="0"/>
          </a:p>
          <a:p>
            <a:endParaRPr lang="en-US" dirty="0"/>
          </a:p>
          <a:p>
            <a:endParaRPr lang="en-US" dirty="0"/>
          </a:p>
          <a:p>
            <a:endParaRPr lang="en-US" dirty="0"/>
          </a:p>
          <a:p>
            <a:r>
              <a:rPr lang="en-US" dirty="0"/>
              <a:t>Uses MSSQL, Postgres and Maria DB</a:t>
            </a:r>
          </a:p>
          <a:p>
            <a:r>
              <a:rPr lang="en-US" dirty="0"/>
              <a:t>MongoDB is also used for flexible content management</a:t>
            </a:r>
          </a:p>
          <a:p>
            <a:r>
              <a:rPr lang="en-US" dirty="0"/>
              <a:t>Stores records of Users, class information, professors, quizzes, enrollment records</a:t>
            </a:r>
          </a:p>
          <a:p>
            <a:r>
              <a:rPr lang="en-US" dirty="0"/>
              <a:t>Allows users to interact with varying levels of functionality depending on their classifications (Professors have different tools available on eLearning than students or admins, depending on their attributes)</a:t>
            </a:r>
          </a:p>
        </p:txBody>
      </p:sp>
      <p:pic>
        <p:nvPicPr>
          <p:cNvPr id="5" name="Picture 4">
            <a:extLst>
              <a:ext uri="{FF2B5EF4-FFF2-40B4-BE49-F238E27FC236}">
                <a16:creationId xmlns:a16="http://schemas.microsoft.com/office/drawing/2014/main" id="{240B2B73-C1F2-6160-960B-D90B75978D95}"/>
              </a:ext>
            </a:extLst>
          </p:cNvPr>
          <p:cNvPicPr>
            <a:picLocks noChangeAspect="1"/>
          </p:cNvPicPr>
          <p:nvPr/>
        </p:nvPicPr>
        <p:blipFill>
          <a:blip r:embed="rId2"/>
          <a:stretch>
            <a:fillRect/>
          </a:stretch>
        </p:blipFill>
        <p:spPr>
          <a:xfrm>
            <a:off x="640081" y="1777207"/>
            <a:ext cx="3455670" cy="1726935"/>
          </a:xfrm>
          <a:prstGeom prst="rect">
            <a:avLst/>
          </a:prstGeom>
        </p:spPr>
      </p:pic>
    </p:spTree>
    <p:extLst>
      <p:ext uri="{BB962C8B-B14F-4D97-AF65-F5344CB8AC3E}">
        <p14:creationId xmlns:p14="http://schemas.microsoft.com/office/powerpoint/2010/main" val="2255672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3450B8-63EA-74D3-3EBB-6A10947CDFB2}"/>
              </a:ext>
            </a:extLst>
          </p:cNvPr>
          <p:cNvSpPr>
            <a:spLocks noGrp="1"/>
          </p:cNvSpPr>
          <p:nvPr>
            <p:ph idx="1"/>
          </p:nvPr>
        </p:nvSpPr>
        <p:spPr>
          <a:xfrm>
            <a:off x="640080" y="1282246"/>
            <a:ext cx="10890928" cy="3566160"/>
          </a:xfrm>
        </p:spPr>
        <p:txBody>
          <a:bodyPr/>
          <a:lstStyle/>
          <a:p>
            <a:r>
              <a:rPr lang="en-US" dirty="0"/>
              <a:t>Twitter/X</a:t>
            </a:r>
          </a:p>
          <a:p>
            <a:endParaRPr lang="en-US" dirty="0"/>
          </a:p>
          <a:p>
            <a:endParaRPr lang="en-US" dirty="0"/>
          </a:p>
          <a:p>
            <a:endParaRPr lang="en-US" dirty="0"/>
          </a:p>
          <a:p>
            <a:endParaRPr lang="en-US" dirty="0"/>
          </a:p>
          <a:p>
            <a:endParaRPr lang="en-US" dirty="0"/>
          </a:p>
          <a:p>
            <a:r>
              <a:rPr lang="en-US" dirty="0"/>
              <a:t>User Records, Trends, events</a:t>
            </a:r>
          </a:p>
        </p:txBody>
      </p:sp>
      <p:pic>
        <p:nvPicPr>
          <p:cNvPr id="5" name="Picture 4">
            <a:extLst>
              <a:ext uri="{FF2B5EF4-FFF2-40B4-BE49-F238E27FC236}">
                <a16:creationId xmlns:a16="http://schemas.microsoft.com/office/drawing/2014/main" id="{2D3EA181-5ED1-851E-6FAB-13842F93D10C}"/>
              </a:ext>
            </a:extLst>
          </p:cNvPr>
          <p:cNvPicPr>
            <a:picLocks noChangeAspect="1"/>
          </p:cNvPicPr>
          <p:nvPr/>
        </p:nvPicPr>
        <p:blipFill>
          <a:blip r:embed="rId2"/>
          <a:stretch>
            <a:fillRect/>
          </a:stretch>
        </p:blipFill>
        <p:spPr>
          <a:xfrm>
            <a:off x="735330" y="1703251"/>
            <a:ext cx="4505325" cy="2342204"/>
          </a:xfrm>
          <a:prstGeom prst="rect">
            <a:avLst/>
          </a:prstGeom>
        </p:spPr>
      </p:pic>
    </p:spTree>
    <p:extLst>
      <p:ext uri="{BB962C8B-B14F-4D97-AF65-F5344CB8AC3E}">
        <p14:creationId xmlns:p14="http://schemas.microsoft.com/office/powerpoint/2010/main" val="2004884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4AD938-5FB3-85C8-31A0-25494D5C3778}"/>
              </a:ext>
            </a:extLst>
          </p:cNvPr>
          <p:cNvSpPr>
            <a:spLocks noGrp="1"/>
          </p:cNvSpPr>
          <p:nvPr>
            <p:ph idx="1"/>
          </p:nvPr>
        </p:nvSpPr>
        <p:spPr>
          <a:xfrm>
            <a:off x="650536" y="1157096"/>
            <a:ext cx="10890928" cy="4843653"/>
          </a:xfrm>
        </p:spPr>
        <p:txBody>
          <a:bodyPr/>
          <a:lstStyle/>
          <a:p>
            <a:r>
              <a:rPr lang="en-US" dirty="0"/>
              <a:t>2. Propose three applications in domain projects (e.g. criminology, economics, brain science, etc.)</a:t>
            </a:r>
          </a:p>
          <a:p>
            <a:r>
              <a:rPr lang="en-US" dirty="0"/>
              <a:t>1. Sports Science – Tracking tennis players average forehand speeds, court coverage at various points through matches across a season to identify trends (competitive applications), reaction times, etc. The function would be to improve training methods for athletes, make adjustments to different competitors, injury pattern indicators, granular breakdowns of player’s metrics vs rivals. The interface could be a search tool with a dashboard to breakdown by players, matches, tournaments, season and so on. Something like this already exists in the form of Tennis Viz but the data is somewhat limited by tournaments.</a:t>
            </a:r>
            <a:br>
              <a:rPr lang="en-US" dirty="0"/>
            </a:br>
            <a:endParaRPr lang="en-US" dirty="0"/>
          </a:p>
        </p:txBody>
      </p:sp>
    </p:spTree>
    <p:extLst>
      <p:ext uri="{BB962C8B-B14F-4D97-AF65-F5344CB8AC3E}">
        <p14:creationId xmlns:p14="http://schemas.microsoft.com/office/powerpoint/2010/main" val="2668731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EF8CFE-BFFC-3E2A-5F1A-B803732D5412}"/>
              </a:ext>
            </a:extLst>
          </p:cNvPr>
          <p:cNvSpPr>
            <a:spLocks noGrp="1"/>
          </p:cNvSpPr>
          <p:nvPr>
            <p:ph idx="1"/>
          </p:nvPr>
        </p:nvSpPr>
        <p:spPr>
          <a:xfrm>
            <a:off x="640080" y="986828"/>
            <a:ext cx="10890928" cy="5212804"/>
          </a:xfrm>
        </p:spPr>
        <p:txBody>
          <a:bodyPr/>
          <a:lstStyle/>
          <a:p>
            <a:r>
              <a:rPr lang="en-US" dirty="0"/>
              <a:t>2. Agriculture economics for improvement/optimization of yield and crop performance. Works for farmers to make informed planting and selling decisions. Record crop yields, allowing to sort by farm, region, season etc. Allow for integration of real time weather data, commodity prices and have a compare functionality to compare on every level. For the interface, similar to previously suggested slide as a dash board with different tools, as well as a granular search function</a:t>
            </a:r>
          </a:p>
          <a:p>
            <a:r>
              <a:rPr lang="en-US" dirty="0"/>
              <a:t>3. Environmental science -  AQ monitoring across time. Reference with data such as weather, traffic, industrial activity, etc. </a:t>
            </a:r>
          </a:p>
        </p:txBody>
      </p:sp>
    </p:spTree>
    <p:extLst>
      <p:ext uri="{BB962C8B-B14F-4D97-AF65-F5344CB8AC3E}">
        <p14:creationId xmlns:p14="http://schemas.microsoft.com/office/powerpoint/2010/main" val="2537735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6519EB-5EBD-5EDF-3318-A51136FD64BF}"/>
              </a:ext>
            </a:extLst>
          </p:cNvPr>
          <p:cNvSpPr>
            <a:spLocks noGrp="1"/>
          </p:cNvSpPr>
          <p:nvPr>
            <p:ph idx="1"/>
          </p:nvPr>
        </p:nvSpPr>
        <p:spPr>
          <a:xfrm>
            <a:off x="640080" y="1131683"/>
            <a:ext cx="10890928" cy="5067949"/>
          </a:xfrm>
        </p:spPr>
        <p:txBody>
          <a:bodyPr/>
          <a:lstStyle/>
          <a:p>
            <a:r>
              <a:rPr lang="en-US" dirty="0"/>
              <a:t>Describe at least three tables that might be used to store information in a social-network/social media system such as Twitter or Reddit</a:t>
            </a:r>
          </a:p>
          <a:p>
            <a:r>
              <a:rPr lang="en-US" dirty="0"/>
              <a:t>User related information – account creation data, associated verification information such as phones or emails, friends and subreddits </a:t>
            </a:r>
            <a:r>
              <a:rPr lang="en-US" dirty="0" err="1"/>
              <a:t>etc</a:t>
            </a:r>
            <a:endParaRPr lang="en-US" dirty="0"/>
          </a:p>
          <a:p>
            <a:r>
              <a:rPr lang="en-US" dirty="0"/>
              <a:t>Subreddit information – user counts, posts, upvotes/likes</a:t>
            </a:r>
          </a:p>
          <a:p>
            <a:r>
              <a:rPr lang="en-US" dirty="0"/>
              <a:t>Metadata of how different users or subreddits relate to each other (Popular/trending, Sports and so on)</a:t>
            </a:r>
          </a:p>
        </p:txBody>
      </p:sp>
    </p:spTree>
    <p:extLst>
      <p:ext uri="{BB962C8B-B14F-4D97-AF65-F5344CB8AC3E}">
        <p14:creationId xmlns:p14="http://schemas.microsoft.com/office/powerpoint/2010/main" val="1730168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266D-ED4C-4A83-D513-14CBD0501149}"/>
              </a:ext>
            </a:extLst>
          </p:cNvPr>
          <p:cNvSpPr>
            <a:spLocks noGrp="1"/>
          </p:cNvSpPr>
          <p:nvPr>
            <p:ph type="title"/>
          </p:nvPr>
        </p:nvSpPr>
        <p:spPr/>
        <p:txBody>
          <a:bodyPr>
            <a:normAutofit fontScale="90000"/>
          </a:bodyPr>
          <a:lstStyle/>
          <a:p>
            <a:r>
              <a:rPr lang="en-US" dirty="0"/>
              <a:t>If data can be retrieved efficiently and effectively, why data mining is needed?</a:t>
            </a:r>
          </a:p>
        </p:txBody>
      </p:sp>
      <p:sp>
        <p:nvSpPr>
          <p:cNvPr id="3" name="Content Placeholder 2">
            <a:extLst>
              <a:ext uri="{FF2B5EF4-FFF2-40B4-BE49-F238E27FC236}">
                <a16:creationId xmlns:a16="http://schemas.microsoft.com/office/drawing/2014/main" id="{910E33D1-2A49-F441-029A-CEB626DA52D5}"/>
              </a:ext>
            </a:extLst>
          </p:cNvPr>
          <p:cNvSpPr>
            <a:spLocks noGrp="1"/>
          </p:cNvSpPr>
          <p:nvPr>
            <p:ph idx="1"/>
          </p:nvPr>
        </p:nvSpPr>
        <p:spPr/>
        <p:txBody>
          <a:bodyPr/>
          <a:lstStyle/>
          <a:p>
            <a:r>
              <a:rPr lang="en-US" dirty="0"/>
              <a:t>Retrieving data and mining data are not the same thing</a:t>
            </a:r>
          </a:p>
          <a:p>
            <a:r>
              <a:rPr lang="en-US" dirty="0"/>
              <a:t>Mining data is using data to understand patterns or discover patterns that were unknown before </a:t>
            </a:r>
          </a:p>
          <a:p>
            <a:r>
              <a:rPr lang="en-US" dirty="0"/>
              <a:t>Data mining can be thought of as a sub category of data analysis, which also encompasses data retrieval</a:t>
            </a:r>
          </a:p>
          <a:p>
            <a:r>
              <a:rPr lang="en-US"/>
              <a:t>Example :A </a:t>
            </a:r>
            <a:r>
              <a:rPr lang="en-US" dirty="0"/>
              <a:t>query tells you a player's serve speed dropped 8% in the third set. Data mining might reveal that across 200 matches, this player's injury risk increases 3x when their court coverage drops below a certain threshold in consecutive tournaments</a:t>
            </a:r>
          </a:p>
        </p:txBody>
      </p:sp>
    </p:spTree>
    <p:extLst>
      <p:ext uri="{BB962C8B-B14F-4D97-AF65-F5344CB8AC3E}">
        <p14:creationId xmlns:p14="http://schemas.microsoft.com/office/powerpoint/2010/main" val="385028683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127</TotalTime>
  <Words>659</Words>
  <Application>Microsoft Office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Grandview Display</vt:lpstr>
      <vt:lpstr>DashVTI</vt:lpstr>
      <vt:lpstr>Assignment 1  </vt:lpstr>
      <vt:lpstr>1. Name and describe three applications you have used that employed a database system to store  and access persistent data. (e.g. airlines, online trade, banking, university system)</vt:lpstr>
      <vt:lpstr>PowerPoint Presentation</vt:lpstr>
      <vt:lpstr>PowerPoint Presentation</vt:lpstr>
      <vt:lpstr>PowerPoint Presentation</vt:lpstr>
      <vt:lpstr>PowerPoint Presentation</vt:lpstr>
      <vt:lpstr>PowerPoint Presentation</vt:lpstr>
      <vt:lpstr>If data can be retrieved efficiently and effectively, why data mining is needed?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Tiwari, Prashant</dc:creator>
  <cp:lastModifiedBy>Tiwari, Prashant</cp:lastModifiedBy>
  <cp:revision>1</cp:revision>
  <dcterms:created xsi:type="dcterms:W3CDTF">2026-02-05T20:03:01Z</dcterms:created>
  <dcterms:modified xsi:type="dcterms:W3CDTF">2026-02-05T22:10:44Z</dcterms:modified>
</cp:coreProperties>
</file>